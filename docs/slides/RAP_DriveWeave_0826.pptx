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3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4.xml" ContentType="application/vnd.openxmlformats-officedocument.drawingml.chart+xml"/>
  <Override PartName="/ppt/notesSlides/notesSlide18.xml" ContentType="application/vnd.openxmlformats-officedocument.presentationml.notesSlide+xml"/>
  <Override PartName="/ppt/charts/chart5.xml" ContentType="application/vnd.openxmlformats-officedocument.drawingml.chart+xml"/>
  <Override PartName="/ppt/notesSlides/notesSlide19.xml" ContentType="application/vnd.openxmlformats-officedocument.presentationml.notesSlide+xml"/>
  <Override PartName="/ppt/charts/chart6.xml" ContentType="application/vnd.openxmlformats-officedocument.drawingml.chart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29"/>
    <p:restoredTop sz="83250"/>
  </p:normalViewPr>
  <p:slideViewPr>
    <p:cSldViewPr snapToGrid="0" snapToObjects="1">
      <p:cViewPr>
        <p:scale>
          <a:sx n="100" d="100"/>
          <a:sy n="100" d="100"/>
        </p:scale>
        <p:origin x="264" y="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PDMS 变动幅度（分）</c:v>
                </c:pt>
              </c:strCache>
            </c:strRef>
          </c:tx>
          <c:spPr>
            <a:solidFill>
              <a:srgbClr val="1A1A1A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Segoe UI"/>
                  </a:defRPr>
                </a:pPr>
                <a:endParaRPr lang="ja-JP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换掉 alignment
(FullAlign − NoAlign)</c:v>
                </c:pt>
                <c:pt idx="1">
                  <c:v>换一个 seed
(NoAlign s1 → s2)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0.02</c:v>
                </c:pt>
                <c:pt idx="1">
                  <c:v>3.21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F50-7840-9247-440FDD0591E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.5"/>
          <c:min val="0"/>
        </c:scaling>
        <c:delete val="0"/>
        <c:axPos val="l"/>
        <c:majorGridlines>
          <c:spPr>
            <a:ln w="6350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Segoe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NoAlign sub-score</c:v>
                </c:pt>
              </c:strCache>
            </c:strRef>
          </c:tx>
          <c:spPr>
            <a:solidFill>
              <a:srgbClr val="B3B3B3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B3B3B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00F-4046-AEE0-03B3952162B0}"/>
              </c:ext>
            </c:extLst>
          </c:dPt>
          <c:dPt>
            <c:idx val="1"/>
            <c:invertIfNegative val="0"/>
            <c:bubble3D val="0"/>
            <c:spPr>
              <a:solidFill>
                <a:srgbClr val="B3B3B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00F-4046-AEE0-03B3952162B0}"/>
              </c:ext>
            </c:extLst>
          </c:dPt>
          <c:dPt>
            <c:idx val="2"/>
            <c:invertIfNegative val="0"/>
            <c:bubble3D val="0"/>
            <c:spPr>
              <a:solidFill>
                <a:srgbClr val="B3B3B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00F-4046-AEE0-03B3952162B0}"/>
              </c:ext>
            </c:extLst>
          </c:dPt>
          <c:dPt>
            <c:idx val="3"/>
            <c:invertIfNegative val="0"/>
            <c:bubble3D val="0"/>
            <c:spPr>
              <a:solidFill>
                <a:srgbClr val="B3B3B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00F-4046-AEE0-03B3952162B0}"/>
              </c:ext>
            </c:extLst>
          </c:dPt>
          <c:dPt>
            <c:idx val="4"/>
            <c:invertIfNegative val="0"/>
            <c:bubble3D val="0"/>
            <c:spPr>
              <a:solidFill>
                <a:srgbClr val="B3B3B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400F-4046-AEE0-03B3952162B0}"/>
              </c:ext>
            </c:extLst>
          </c:dPt>
          <c:dPt>
            <c:idx val="5"/>
            <c:invertIfNegative val="0"/>
            <c:bubble3D val="0"/>
            <c:spPr>
              <a:solidFill>
                <a:srgbClr val="1A1A1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400F-4046-AEE0-03B3952162B0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Segoe UI"/>
                  </a:defRPr>
                </a:pPr>
                <a:endParaRPr lang="ja-JP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NC</c:v>
                </c:pt>
                <c:pt idx="1">
                  <c:v>DAC</c:v>
                </c:pt>
                <c:pt idx="2">
                  <c:v>TTC</c:v>
                </c:pt>
                <c:pt idx="3">
                  <c:v>C</c:v>
                </c:pt>
                <c:pt idx="4">
                  <c:v>DDC</c:v>
                </c:pt>
                <c:pt idx="5">
                  <c:v>EP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97.56</c:v>
                </c:pt>
                <c:pt idx="1">
                  <c:v>93.26</c:v>
                </c:pt>
                <c:pt idx="2">
                  <c:v>91.35</c:v>
                </c:pt>
                <c:pt idx="3">
                  <c:v>97.32</c:v>
                </c:pt>
                <c:pt idx="4">
                  <c:v>97.85</c:v>
                </c:pt>
                <c:pt idx="5">
                  <c:v>61.37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400F-4046-AEE0-03B3952162B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9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6350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Segoe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实测</c:v>
                </c:pt>
              </c:strCache>
            </c:strRef>
          </c:tx>
          <c:spPr>
            <a:solidFill>
              <a:srgbClr val="1A1A1A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0 次</c:v>
                </c:pt>
                <c:pt idx="1">
                  <c:v>1 次</c:v>
                </c:pt>
                <c:pt idx="2">
                  <c:v>2 次</c:v>
                </c:pt>
                <c:pt idx="3">
                  <c:v>3 次</c:v>
                </c:pt>
                <c:pt idx="4">
                  <c:v>4 次</c:v>
                </c:pt>
                <c:pt idx="5">
                  <c:v>5 次</c:v>
                </c:pt>
                <c:pt idx="6">
                  <c:v>6 次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9683</c:v>
                </c:pt>
                <c:pt idx="1">
                  <c:v>947</c:v>
                </c:pt>
                <c:pt idx="2">
                  <c:v>500</c:v>
                </c:pt>
                <c:pt idx="3">
                  <c:v>314</c:v>
                </c:pt>
                <c:pt idx="4">
                  <c:v>264</c:v>
                </c:pt>
                <c:pt idx="5">
                  <c:v>196</c:v>
                </c:pt>
                <c:pt idx="6">
                  <c:v>242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8D8-9640-B336-9CCAA718CA2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独立性预期</c:v>
                </c:pt>
              </c:strCache>
            </c:strRef>
          </c:tx>
          <c:spPr>
            <a:solidFill>
              <a:srgbClr val="B3B3B3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0 次</c:v>
                </c:pt>
                <c:pt idx="1">
                  <c:v>1 次</c:v>
                </c:pt>
                <c:pt idx="2">
                  <c:v>2 次</c:v>
                </c:pt>
                <c:pt idx="3">
                  <c:v>3 次</c:v>
                </c:pt>
                <c:pt idx="4">
                  <c:v>4 次</c:v>
                </c:pt>
                <c:pt idx="5">
                  <c:v>5 次</c:v>
                </c:pt>
                <c:pt idx="6">
                  <c:v>6 次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6999</c:v>
                </c:pt>
                <c:pt idx="1">
                  <c:v>4055</c:v>
                </c:pt>
                <c:pt idx="2">
                  <c:v>964</c:v>
                </c:pt>
                <c:pt idx="3">
                  <c:v>120</c:v>
                </c:pt>
                <c:pt idx="4">
                  <c:v>8.3000000000000007</c:v>
                </c:pt>
                <c:pt idx="5">
                  <c:v>0.3</c:v>
                </c:pt>
                <c:pt idx="6">
                  <c:v>4.4999999999999997E-3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8D8-9640-B336-9CCAA718CA2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logBase val="10"/>
          <c:orientation val="minMax"/>
          <c:max val="10000"/>
          <c:min val="1E-3"/>
        </c:scaling>
        <c:delete val="0"/>
        <c:axPos val="l"/>
        <c:majorGridlines>
          <c:spPr>
            <a:ln w="6350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Segoe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000000"/>
              </a:solidFill>
              <a:latin typeface="Segoe UI"/>
              <a:cs typeface="Segoe U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TVD（实测）</c:v>
                </c:pt>
              </c:strCache>
            </c:strRef>
          </c:tx>
          <c:spPr>
            <a:solidFill>
              <a:srgbClr val="1A1A1A"/>
            </a:solidFill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endpoint_dy</c:v>
                </c:pt>
                <c:pt idx="1">
                  <c:v>map_location</c:v>
                </c:pt>
                <c:pt idx="2">
                  <c:v>actor_density</c:v>
                </c:pt>
                <c:pt idx="3">
                  <c:v>endpoint_dyaw</c:v>
                </c:pt>
                <c:pt idx="4">
                  <c:v>route_command</c:v>
                </c:pt>
                <c:pt idx="5">
                  <c:v>contrast</c:v>
                </c:pt>
                <c:pt idx="6">
                  <c:v>blur_like</c:v>
                </c:pt>
                <c:pt idx="7">
                  <c:v>illumination</c:v>
                </c:pt>
                <c:pt idx="8">
                  <c:v>endpoint_dx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0.34260000000000002</c:v>
                </c:pt>
                <c:pt idx="1">
                  <c:v>0.2525</c:v>
                </c:pt>
                <c:pt idx="2">
                  <c:v>0.12709999999999999</c:v>
                </c:pt>
                <c:pt idx="3">
                  <c:v>6.9699999999999998E-2</c:v>
                </c:pt>
                <c:pt idx="4">
                  <c:v>6.2899999999999998E-2</c:v>
                </c:pt>
                <c:pt idx="5">
                  <c:v>4.2200000000000001E-2</c:v>
                </c:pt>
                <c:pt idx="6">
                  <c:v>3.6299999999999999E-2</c:v>
                </c:pt>
                <c:pt idx="7">
                  <c:v>5.2999999999999999E-2</c:v>
                </c:pt>
                <c:pt idx="8">
                  <c:v>1.6899999999999998E-2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0BE-F146-9A5D-863406527CE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随机零分布 p95</c:v>
                </c:pt>
              </c:strCache>
            </c:strRef>
          </c:tx>
          <c:spPr>
            <a:solidFill>
              <a:srgbClr val="B3B3B3"/>
            </a:solidFill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endpoint_dy</c:v>
                </c:pt>
                <c:pt idx="1">
                  <c:v>map_location</c:v>
                </c:pt>
                <c:pt idx="2">
                  <c:v>actor_density</c:v>
                </c:pt>
                <c:pt idx="3">
                  <c:v>endpoint_dyaw</c:v>
                </c:pt>
                <c:pt idx="4">
                  <c:v>route_command</c:v>
                </c:pt>
                <c:pt idx="5">
                  <c:v>contrast</c:v>
                </c:pt>
                <c:pt idx="6">
                  <c:v>blur_like</c:v>
                </c:pt>
                <c:pt idx="7">
                  <c:v>illumination</c:v>
                </c:pt>
                <c:pt idx="8">
                  <c:v>endpoint_dx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7.9799999999999996E-2</c:v>
                </c:pt>
                <c:pt idx="1">
                  <c:v>7.7200000000000005E-2</c:v>
                </c:pt>
                <c:pt idx="2">
                  <c:v>7.7600000000000002E-2</c:v>
                </c:pt>
                <c:pt idx="3">
                  <c:v>5.7299999999999997E-2</c:v>
                </c:pt>
                <c:pt idx="4">
                  <c:v>5.9499999999999997E-2</c:v>
                </c:pt>
                <c:pt idx="5">
                  <c:v>4.0500000000000001E-2</c:v>
                </c:pt>
                <c:pt idx="6">
                  <c:v>3.6299999999999999E-2</c:v>
                </c:pt>
                <c:pt idx="7">
                  <c:v>6.6799999999999998E-2</c:v>
                </c:pt>
                <c:pt idx="8">
                  <c:v>2.3300000000000001E-2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0BE-F146-9A5D-863406527CE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000000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36"/>
          <c:min val="0"/>
        </c:scaling>
        <c:delete val="0"/>
        <c:axPos val="b"/>
        <c:majorGridlines>
          <c:spPr>
            <a:ln w="6350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Segoe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000000"/>
              </a:solidFill>
              <a:latin typeface="Segoe UI"/>
              <a:cs typeface="Segoe U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endpoint_dy</c:v>
                </c:pt>
              </c:strCache>
            </c:strRef>
          </c:tx>
          <c:spPr>
            <a:ln w="28575" cap="flat">
              <a:solidFill>
                <a:srgbClr val="1A1A1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A1A1A"/>
              </a:solidFill>
              <a:ln w="9525" cap="flat">
                <a:solidFill>
                  <a:srgbClr val="1A1A1A"/>
                </a:solidFill>
                <a:prstDash val="solid"/>
                <a:round/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never_failed</c:v>
                </c:pt>
                <c:pt idx="1">
                  <c:v>failed_once</c:v>
                </c:pt>
                <c:pt idx="2">
                  <c:v>hard_core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6.4399999999999999E-2</c:v>
                </c:pt>
                <c:pt idx="1">
                  <c:v>0.2407</c:v>
                </c:pt>
                <c:pt idx="2">
                  <c:v>0.34260000000000002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737-634D-BB1F-1CFC0546148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map_location</c:v>
                </c:pt>
              </c:strCache>
            </c:strRef>
          </c:tx>
          <c:spPr>
            <a:ln w="28575" cap="flat">
              <a:solidFill>
                <a:srgbClr val="66666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666666"/>
              </a:solidFill>
              <a:ln w="9525" cap="flat">
                <a:solidFill>
                  <a:srgbClr val="666666"/>
                </a:solidFill>
                <a:prstDash val="solid"/>
                <a:round/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never_failed</c:v>
                </c:pt>
                <c:pt idx="1">
                  <c:v>failed_once</c:v>
                </c:pt>
                <c:pt idx="2">
                  <c:v>hard_core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3.0200000000000001E-2</c:v>
                </c:pt>
                <c:pt idx="1">
                  <c:v>0.1181</c:v>
                </c:pt>
                <c:pt idx="2">
                  <c:v>0.2525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737-634D-BB1F-1CFC0546148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actor_density</c:v>
                </c:pt>
              </c:strCache>
            </c:strRef>
          </c:tx>
          <c:spPr>
            <a:ln w="28575" cap="flat">
              <a:solidFill>
                <a:srgbClr val="99999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999999"/>
              </a:solidFill>
              <a:ln w="9525" cap="flat">
                <a:solidFill>
                  <a:srgbClr val="999999"/>
                </a:solidFill>
                <a:prstDash val="solid"/>
                <a:round/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never_failed</c:v>
                </c:pt>
                <c:pt idx="1">
                  <c:v>failed_once</c:v>
                </c:pt>
                <c:pt idx="2">
                  <c:v>hard_core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2.6599999999999999E-2</c:v>
                </c:pt>
                <c:pt idx="1">
                  <c:v>8.5000000000000006E-2</c:v>
                </c:pt>
                <c:pt idx="2">
                  <c:v>0.12709999999999999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737-634D-BB1F-1CFC0546148F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route_command（对照）</c:v>
                </c:pt>
              </c:strCache>
            </c:strRef>
          </c:tx>
          <c:spPr>
            <a:ln w="28575" cap="flat">
              <a:solidFill>
                <a:srgbClr val="CCCCC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CCCCC"/>
              </a:solidFill>
              <a:ln w="9525" cap="flat">
                <a:solidFill>
                  <a:srgbClr val="CCCCCC"/>
                </a:solidFill>
                <a:prstDash val="solid"/>
                <a:round/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never_failed</c:v>
                </c:pt>
                <c:pt idx="1">
                  <c:v>failed_once</c:v>
                </c:pt>
                <c:pt idx="2">
                  <c:v>hard_core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3.2000000000000001E-2</c:v>
                </c:pt>
                <c:pt idx="1">
                  <c:v>0.13220000000000001</c:v>
                </c:pt>
                <c:pt idx="2">
                  <c:v>6.2899999999999998E-2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0737-634D-BB1F-1CFC0546148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38"/>
          <c:min val="0"/>
        </c:scaling>
        <c:delete val="0"/>
        <c:axPos val="l"/>
        <c:majorGridlines>
          <c:spPr>
            <a:ln w="6350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Segoe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000000"/>
              </a:solidFill>
              <a:latin typeface="Segoe UI"/>
              <a:cs typeface="Segoe U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全体 GO_STRAIGHT</c:v>
                </c:pt>
              </c:strCache>
            </c:strRef>
          </c:tx>
          <c:spPr>
            <a:solidFill>
              <a:srgbClr val="1A1A1A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Segoe UI"/>
                  </a:defRPr>
                </a:pPr>
                <a:endParaRPr lang="ja-JP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dy &gt; 2
（左）</c:v>
                </c:pt>
                <c:pt idx="1">
                  <c:v>dy 0.5 ~ 2
（左）</c:v>
                </c:pt>
                <c:pt idx="2">
                  <c:v>dy −0.5 ~ 0.5
（真直行）</c:v>
                </c:pt>
                <c:pt idx="3">
                  <c:v>dy &lt; −2
（右）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0.14699999999999999</c:v>
                </c:pt>
                <c:pt idx="1">
                  <c:v>0.13800000000000001</c:v>
                </c:pt>
                <c:pt idx="2">
                  <c:v>0.52900000000000003</c:v>
                </c:pt>
                <c:pt idx="3">
                  <c:v>0.10100000000000001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EA7-E749-8A2A-593CA9762B6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hard_core GO_STRAIGHT</c:v>
                </c:pt>
              </c:strCache>
            </c:strRef>
          </c:tx>
          <c:spPr>
            <a:solidFill>
              <a:srgbClr val="B3B3B3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Segoe UI"/>
                  </a:defRPr>
                </a:pPr>
                <a:endParaRPr lang="ja-JP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dy &gt; 2
（左）</c:v>
                </c:pt>
                <c:pt idx="1">
                  <c:v>dy 0.5 ~ 2
（左）</c:v>
                </c:pt>
                <c:pt idx="2">
                  <c:v>dy −0.5 ~ 0.5
（真直行）</c:v>
                </c:pt>
                <c:pt idx="3">
                  <c:v>dy &lt; −2
（右）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0.432</c:v>
                </c:pt>
                <c:pt idx="1">
                  <c:v>0.29499999999999998</c:v>
                </c:pt>
                <c:pt idx="2">
                  <c:v>0.19900000000000001</c:v>
                </c:pt>
                <c:pt idx="3">
                  <c:v>4.4999999999999998E-2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EA7-E749-8A2A-593CA9762B6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62"/>
          <c:min val="0"/>
        </c:scaling>
        <c:delete val="0"/>
        <c:axPos val="l"/>
        <c:majorGridlines>
          <c:spPr>
            <a:ln w="6350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Segoe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000000"/>
              </a:solidFill>
              <a:latin typeface="Segoe UI"/>
              <a:cs typeface="Segoe U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80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 15 秒：先声明状态，再讲内容。全程 30 分钟，Part 1 约 12 分钟，Part 2 约 14 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分钟。三个框从左到右念一遍，落到最后一句「桥与货」。这个比喻后面 Q&amp;A 会反复用到。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分钟。原话：「这一轮没有关于 alignment 的科学结论——这句话在我看到分数之前就写进协议了。我交付的是三样东西：一台受控测量装置、一把噪声尺子、一个保守 planner 的活标本。」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1.5 分钟。这是本轮最硬的正面成果，被问「你们的 evaluator 是自己改的，凭什么信」时直接翻回本页。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分钟。不要跳过 gate FAILED，这是诚实性的第一个锚点。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分钟。原话：「协议禁止我从这里得出方向性结论，我也不打算得。」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分钟。本页只讲一个数：174 倍。讲完立刻抛出接缝 A 的三选一问题，引到下一段。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0.5 分钟。一句话带过，但要留住这个印象——Part 2 讲指标选择时会回指本页。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分钟。强调「全程不比较两个条件」——这是这段分析合法的唯一理由，必须先说出口。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分钟。对应 fig_b。若已从集群同步 figs/fig_b*.png，可直接替换本页图表。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分钟。ICC 排除硬失败后升高，是堵住「二值分裂」反驳的关键，对应 fig_c。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0.5 分钟。若三张图已同步，本页可以删掉，直接把 fig_a 放大成一整页。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分钟。主动把两个作废的子集画出来——当场演示自我审查标准，比等着被问强得多。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分钟。三个「不是」按顺序念，节奏要快，重点留给下一页的「是什么」。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分钟。这页是防守页——先自己把混杂拆干净，后面「是什么」才立得住。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分钟。指出 route_command 落在带内——它被同一套流程判为噪声，正好说明这套流程会产生阴性结果，不是只挑赢的。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分钟。单调性是本轮画像里最强的论据，因为它不依赖任何单点显著性。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1.5 分钟。这是 Part 1 的封面图。念完中间那句结论后停一拍再往下走。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分钟。三句诚实话不要被问了才说——主动说完，这段的可信度就锁死了。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0.5 分钟。两句压缩带过，不占主链。这是四条连接链里的第 2、第 4 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分钟。全场转折点。最后一句收在：「我划掉了一个分支，那个矩阵因此从一个设计选择，变成了必要步骤。」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1.5 分钟。左边讲 recovery gap 的定义，右边把 Part 1 接上来。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分钟。逐格 30 秒。重点让听众看到每格顶上那两个 YES/NO 芯片：Recovery-state coverage / Recovery across datasets。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分钟。四个红框逐格 15 秒。重点：没有任何一格同时拿到两个 YES。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1.5 分钟。讲完 O3 的 HEAT 表要停一拍——这是后面「不假设不掉点、胜利条件是持平」的前提。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分钟。ε 那一行是全场最强的一次闭合——念到这里明确回指 Part 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1.5 分钟。图里 Phase 1 = Learning to Drive（NO source images / calibrations），Phase 2 = Learning to See（target real images only）。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分钟。只读最后一行：Recovery-state coverage YES(multi-source)† / Cross-dataset scaling Yes† / Needs source RGB No / Target visual cues Strong / Deployment Camera + ego status。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1.5 分钟。接缝 D。不要从「让 alignment 从 regularizer 变成 knowledge carrier」起手，那是空想推理。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0.5 分钟。先给全景，再逐相拆。讲图例只花 20 秒，但必须讲，否则后面三页听众读不懂。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1.5 分钟。合规声明要主动说：训练 perturbation 与官方 Stage 2 grid 相关但不相同。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1.5 分钟。讲到 L_struct 时手指图里那个菱形——这是四条连接链里的第 1 条（模块同一）。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分钟。图右下角那张 Shared weights across phases 表是整张图的证明，本页把它转成中文表格。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分钟。这一页是回答「怎么保证 gain 来自 external knowledge 而非正则化」的标准答案页。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分钟。收尾。念完最后一句就停，把时间交给讨论。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不讲。被问到时翻本页。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不讲。Q&amp;A 时按题翻。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05740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Alignment 受控实验 与 DriveWeave 提案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285292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Source-Sensor-Free Cross-Dataset Recovery Scaling for End-to-End Driving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66928" y="379476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本轮没有关于 alignment 的方向性结论 —— 这句话在看到分数之前就写进了协议。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交付的是：一台受控测量装置、一把噪声尺子、一个保守 planner 的失败画像。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66928" y="5760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 年 8 月 26 日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10367" y="62910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402336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总纲：这场汇报是一件事，不是两件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66928" y="1042416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RAP 已经证明「用目标数据集自己的 structured logs 造 recovery 监督」有效。它没回答的是：这件事能不能跨数据集。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66928" y="2057400"/>
            <a:ext cx="32744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已 证 明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2377440"/>
            <a:ext cx="32744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RAP（同源）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66928" y="2880360"/>
            <a:ext cx="327446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用目标数据集自己的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structured logs 造 recovery 监督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是有效的。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v2 EPDMS 32.5 → 36.9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252874" y="2057400"/>
            <a:ext cx="32744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本 轮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52874" y="2377440"/>
            <a:ext cx="32744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校准与定位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252874" y="2880360"/>
            <a:ext cx="327446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把传输机制和测量精度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校准一遍，并定位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planner 稳定失败的形状。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交付装置，不交付结论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938821" y="2057400"/>
            <a:ext cx="32744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下 一 步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938821" y="2377440"/>
            <a:ext cx="32744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DriveWeave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938821" y="2880360"/>
            <a:ext cx="327446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recovery 监督能否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跨 sensor-incompatible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的真实数据集扩展？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 端一张图都不读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66928" y="5074920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比喻——桥与货：RAP 的闭环增益来自 raster-only recovery 增强样本（货）；alignment 只是让这些没有真图的样本能喂给真实 planner 的机制（桥）。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本轮的受控实验刻意卸掉了货，只称桥本身的重量。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10367" y="62910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22860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1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566928" y="34290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Alignment 实验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404164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受控测量装置 · 噪声尺度 · 铁核画像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10367" y="62910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402336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首页必须声明：本轮交付的不是结论，是装置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66928" y="1042416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 = incomplete　|　designation = pipeline_rehearsal_v1_only</a:t>
            </a:r>
            <a:endParaRPr lang="en-US" sz="14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74520"/>
          <a:ext cx="11057839" cy="164592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998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本轮实际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官方 Stage-A 要求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候选池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21%（本地可用性）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100%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优化步数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400 optimizer steps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≈ 100 × 本轮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评测指标族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仅 v1 PDMS；v2.2 evaluator 未接入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co-primary family 完整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EPDMS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not_tested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official final metric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66928" y="39776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协议 forbidden_use 明令禁止：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66928" y="4297680"/>
            <a:ext cx="1105783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对 alignment 是否改善 planning performance 作任何方向性结论</a:t>
            </a:r>
            <a:endParaRPr lang="en-US" sz="13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把本轮数字当作 Stage-B 的效应量先导</a:t>
            </a:r>
            <a:endParaRPr lang="en-US" sz="13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对外称为官方 Stage-A 结果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66928" y="5532120"/>
            <a:ext cx="1105783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PDMS 的 p 值一律标注 descriptive_non_confirmatory。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10367" y="62910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402336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先证明尺子是准的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66928" y="1042416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constant-velocity 打出 20.6517，论文 Table 1 是 20.6 —— 差 0.05 个百分点。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66928" y="178308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这一个数字同时验证了 metric cache、地图版本、数据集版本、LQR 仿真、PDMScorer 五个环节。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377440"/>
          <a:ext cx="11057839" cy="2084832"/>
        </p:xfrm>
        <a:graphic>
          <a:graphicData uri="http://schemas.openxmlformats.org/drawingml/2006/table">
            <a:tbl>
              <a:tblPr/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58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检查项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结果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G1–G7 关系式门禁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全部通过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RAP fork vs official v1.1（0811876c…）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唯一实质差异 = batch_lqr_utils.py 伪逆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伪逆差异波及范围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12,146 个场景中 9 个非零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最大 |ΔPDMS|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3.35e-12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constant-velocity 复现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论文 20.6 → 本次 20.6517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66928" y="4892040"/>
            <a:ext cx="1105783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产物：outputs/alignment_stage_a/evaluator_validation/{scorer_equivalence_record.json, v1_paper_reference.json}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10367" y="62910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402336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受控配置：6 个 run，两个条件，三个种子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66928" y="1042416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收敛门禁两条判据全部 FAILED —— 后面所有数字都带 under-trained regime 标注。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66928" y="18288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训练配置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66928" y="2176272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2,498 train / 464 val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 epochs　|　400 optimizer steps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global batch 128（4 devices × 32）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seeds × 2 conditions = 6 runs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AdamW lr 1e-4，cosine + 1 warmup epoch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dropout 0，16-mixed，final-step checkpoint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19088" y="18288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收敛门禁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19088" y="2176272"/>
            <a:ext cx="5212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个 run 的 argmin(val_loss) 全部落在 epoch 19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末段斜率 [-0.048 … -0.065]，超阈值 2–3 倍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判定：FAILED（两条判据）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5029200"/>
            <a:ext cx="1105783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必须主动说的第一句：本轮模型处在 under-trained regime（75.8 vs RAP 论文 93.8）。后面「铁核」里有一部分会在全量训练后消失。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10367" y="62910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402336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主结果：效应不可与 seed 噪声区分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66928" y="1042416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paired delta = −0.000184，CI [−0.00321, +0.00280] 跨 0，p = 0.9096，Cohen's dz = −0.0015。</a:t>
            </a:r>
            <a:endParaRPr lang="en-US" sz="14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74520"/>
          <a:ext cx="11057839" cy="1463040"/>
        </p:xfrm>
        <a:graphic>
          <a:graphicData uri="http://schemas.openxmlformats.org/drawingml/2006/table">
            <a:tbl>
              <a:tblPr/>
              <a:tblGrid>
                <a:gridCol w="28282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条件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seed 0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seed 1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seed 2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mean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sd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NoAlign PDMS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76.02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74.11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77.32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75.82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1.61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FullAlign PDMS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76.90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76.35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74.15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75.80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1.46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per-seed delta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+0.88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+2.24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−3.18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−0.02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66928" y="36118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逐场景转移（12,146 个场景）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66928" y="3950208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13.6% 完全未变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39.6% 变好　|　46.8% 变差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净和 −2.24 分</a:t>
            </a:r>
            <a:endParaRPr lang="en-US" sz="1250" dirty="0"/>
          </a:p>
        </p:txBody>
      </p:sp>
      <p:sp>
        <p:nvSpPr>
          <p:cNvPr id="5" name="Text 5"/>
          <p:cNvSpPr/>
          <p:nvPr/>
        </p:nvSpPr>
        <p:spPr>
          <a:xfrm>
            <a:off x="6419088" y="36118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符号稳定性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419088" y="3950208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per-seed delta 三个种子符号翻转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个离散 sub-score 全部在 seed 间翻方向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66928" y="5486400"/>
            <a:ext cx="1105783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不能上台的观察：FullAlign 在 7 个指标里 6 个 seed 方差更小。n = 3、未预注册 —— 只能作为 Stage-B / A6 的预注册假设提出。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10367" y="62910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402336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把效应放在噪声旁边看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66928" y="1042416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换掉 alignment：−0.02 分。换一个 seed：最多 3.21 分。相差 174 倍。</a:t>
            </a:r>
            <a:endParaRPr lang="en-US" sz="14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66928" y="1783080"/>
          <a:ext cx="630936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7333488" y="18745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参照系</a:t>
            </a:r>
            <a:endParaRPr lang="en-US" sz="13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33488" y="2240280"/>
          <a:ext cx="4297680" cy="164592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PDMS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constant-velocity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20.65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本轮（under-trained）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75.8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RAP 论文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≈ 93.8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human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94.8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66928" y="5394960"/>
            <a:ext cx="1105783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接缝 A：−0.02 留下一个我可以回答的问题 —— 它到底是因为 alignment 没用、因为我测不出来、还是因为那个位置本来就没多少东西可动？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10367" y="62910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402336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这个 planner 的画像：不撞、不越线、不违规，就是不走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66928" y="1042416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75.8 与 93.8 之间那 18 分的缺口，主要在进展，不在安全。</a:t>
            </a:r>
            <a:endParaRPr lang="en-US" sz="14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66928" y="1874520"/>
          <a:ext cx="694944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7973568" y="2148840"/>
            <a:ext cx="3657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五项安全类指标 91–98 分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NC 97.56　DAC 93.26　TTC 91.35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 97.32　DDC 97.85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进展指标 EP 只有 61.37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这是后面 Part 2「Stage 2 gain 必须同时查 EP」那条规则的活标本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10367" y="62910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402336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场景固有 vs 运行随机：把 6 个 run 当成 6 次重复观测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66928" y="1042416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242 个场景六次运行全部硬失败。如果失败是随机的，期望 0.0045 个 —— 差 54,000 倍。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66928" y="1783080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设计要点：这个分析全程不比较两个条件，因此合法地绕开了 forbidden_use。</a:t>
            </a:r>
            <a:endParaRPr lang="en-US" sz="12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286000"/>
          <a:ext cx="11057839" cy="1463040"/>
        </p:xfrm>
        <a:graphic>
          <a:graphicData uri="http://schemas.openxmlformats.org/drawingml/2006/table">
            <a:tbl>
              <a:tblPr/>
              <a:tblGrid>
                <a:gridCol w="48399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现象（六次运行全部满足）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实测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随机预期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倍数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硬失败　NC × DAC == 0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242（1.99%）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0.0045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≈ 54,000×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落在 EP 最低十分位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207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0.0034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≈ 60,000×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安全项满分且 EP &lt; 0.30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31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3e-7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66928" y="4114800"/>
            <a:ext cx="1105783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逐次运行的硬失败率在 5.71% – 11.72% 之间摆动（2.05 倍），但那 242 个场景一次不落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safe &amp; EP&lt;0.30 逐 run：413 / 142 / 86 / 365 / 178 / 224（4.8 倍摆动），重合的仍是那 31 个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66928" y="5486400"/>
            <a:ext cx="1105783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脚本：scripts/alignment/scene_vs_run_decomposition.py　产物：outputs/alignment_stage_a/summary/scene_vs_run_decomposition.json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10367" y="62910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402336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两个尾巴都比随机厚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66928" y="1042416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如果失败在 run 之间独立，中间应该是一座山。实测是两端高、中间塌。</a:t>
            </a:r>
            <a:endParaRPr lang="en-US" sz="14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66928" y="1828800"/>
          <a:ext cx="73152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566928" y="5532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横轴 = 一个场景在 6 次运行中硬失败的次数（对数纵轴）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339328" y="2377440"/>
            <a:ext cx="3291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次全败：242 vs 0.0045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 次失败：9,683 vs 6,999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中间档（1–3 次）全部低于独立预期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失败不是每次运行独立掷骰子的结果，而是场景自带的属性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10367" y="62910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402336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不是「撞车 / 不撞车」的二值分裂造成的假象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66928" y="1042416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排除全部硬失败之后，ICC 反而更高：0.601 → 0.761。</a:t>
            </a:r>
            <a:endParaRPr lang="en-US" sz="14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74520"/>
          <a:ext cx="11057839" cy="91440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943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统计量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取值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读法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ICC(1)　全体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0.601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60% 的 PDMS 方差由场景决定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ICC(1)　排除硬失败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0.761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在 9,683 个从未硬失败的场景内，仍有 76%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跨运行 Spearman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0.776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场景排序在 6 次运行间高度一致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失败集 pairwise Jaccard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0.374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独立预期 0.046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66928" y="39776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constant-velocity 交叉验证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66928" y="4315968"/>
            <a:ext cx="1105783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CV 全体通过率 33.1%；在 242 个铁核内只有 7.9%（19/242，独立预期 80）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铁核对不含学习的规则策略也难 4.2 倍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红线：「CV 能过而 planner 全败」的叙事不成立（19 低于预期 80），不要用。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66928" y="5715000"/>
            <a:ext cx="1105783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必须主动说：CV 的一致性有机械成分——直行策略必然在弯道出界。所以只用「4.2 倍」这个相对量，不做绝对解读。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10367" y="62910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402336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三张图的分工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66928" y="8412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fig_a 提出 · fig_b 证明 · fig_c 加固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120700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fig_c 的存在意义，是堵住「你那 60% ICC 只是撞车 / 不撞车的二值分裂」这个反驳。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66928" y="19659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fig_a　场景 × 运行 热力图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498848" y="19659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提出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53328" y="1965960"/>
            <a:ext cx="55686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横向条纹：分数由行（场景）决定，不由列（运行）决定。定性证据。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313639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fig_b　重合度柱状图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498848" y="31363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证明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53328" y="3136392"/>
            <a:ext cx="55686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实测 vs 独立预期，54,000 倍。但只覆盖硬失败这一个维度。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66928" y="430682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fig_c　EP 直方图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498848" y="430682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加固 + 扩展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53328" y="4306824"/>
            <a:ext cx="55686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换连续指标，且只取全无硬失败的场景，现象照旧；同时暴露 seed 方差在 EP 上最大。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66928" y="5623560"/>
            <a:ext cx="1105783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本页为图位说明页。三张图的 png 在 outputs/alignment_stage_a/summary/figs/ 下，做 slides 时从集群同步后替换本页。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10367" y="62910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402336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先解决资格问题：这 242 个是不是只是某几段路？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66928" y="1042416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64 个 log，top-3 只占 17.4%，未触发混杂标记 —— 可以解释为场景类型效应。</a:t>
            </a:r>
            <a:endParaRPr lang="en-US" sz="14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74520"/>
          <a:ext cx="11057839" cy="9144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655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子集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场景数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logs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top-3 占比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判定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hard_core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242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64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17.4%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可用：场景类型效应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ep_bottom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207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42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44.9%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log_confounded → 画像作废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safe_stalled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31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16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45.2%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log_confounded → 画像作废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failed_once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947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115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13.5%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可用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never_failed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9,683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136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12.2%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可用（对照组）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66928" y="406908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画像作废 ≠ 重合度结论作废。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207 / 31 的「六次全部重合」讲的是跨运行可复现性，与 log 集中无关，继续用；只是不再给它们配元数据画像。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66928" y="5212080"/>
            <a:ext cx="1105783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验收：endpoint 自校验 2,000 条 max |Δ| = 1.42e-14（阈值 1e-3）；图像覆盖 12,146 / 12,146 = 100%；每格含 10,000 次 log-cluster bootstrap + 2,000 次随机零分布。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10367" y="62910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402336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铁核画像（一）：先排除三个「不是」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66928" y="1042416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不是拥挤交互问题，不是看不清的问题，也不是导航指令能预测的问题。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66928" y="1874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失败方式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2258568" y="187452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197 个 DAC = 0（驶出可行驶区），仅 44 个 NC = 0（碰撞）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796528" y="1874520"/>
            <a:ext cx="2825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几何 / 路形，不是交互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66928" y="28346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周围车辆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258568" y="283464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0–5 辆档 .356 → .483（1.36×）；&gt; 20 辆档 .118 → .050（0.42×）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796528" y="2834640"/>
            <a:ext cx="2825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车更少，不是更多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66928" y="37947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图像统计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258568" y="379476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illumination 0.79×　contrast 1.04×　blur_like 1.00×（全部落在零分布内）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796528" y="3794760"/>
            <a:ext cx="2825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与全体无差异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66928" y="47548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导航指令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258568" y="475488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GO_STRAIGHT 2.18%　TURN_LEFT 1.96%　TURN_RIGHT 1.08%（全局 1.99%）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796528" y="4754880"/>
            <a:ext cx="2825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几乎无区分度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66928" y="5669280"/>
            <a:ext cx="1105783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红线：「图像三项无差异 = 视觉不是问题」是错的。只说明这三个全局统计量解释不了失败；遮挡 / 反光 / 物体类别它们测不到。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10367" y="62910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402336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去混杂：「车少更难」与「地理」是两个各自独立的效应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66928" y="1042416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同城内部仍然单调（Boston 4.37% → 1.60%）；而同为 0–5 辆档，Boston 是 Vegas 的 7.8 倍。</a:t>
            </a:r>
            <a:endParaRPr lang="en-US" sz="14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74520"/>
          <a:ext cx="11057839" cy="1737360"/>
        </p:xfrm>
        <a:graphic>
          <a:graphicData uri="http://schemas.openxmlformats.org/drawingml/2006/table">
            <a:tbl>
              <a:tblPr/>
              <a:tblGrid>
                <a:gridCol w="39255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每格 hard-core 率（全局 1.99%）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0–5 辆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6–10 辆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11–20 辆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&gt; 20 辆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us-ma-boston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4.37%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3.04%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2.91%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1.60%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us-pa-pittsburgh-hazelwood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4.30%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1.84%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1.06%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3.70% ¹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sg-one-north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2.05%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0.50%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0.00%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0.00%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us-nv-las-vegas-strip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0.56%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0.93%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0.53%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0.34%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66928" y="3840480"/>
            <a:ext cx="1105783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「车少更难」成立：4 城中 3 城同城内单调下降；Vegas 平坦，但整城每一格都低于 1%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「地理」也成立且更强：同为 0–5 辆档，Boston 4.37% 是 Vegas 0.56% 的 7.8 倍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新加坡基本不动（.158 → .140，0.89×）→ 左侧通行那条解释链不成立，不要用。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66928" y="5577840"/>
            <a:ext cx="1105783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¹ Pittsburgh「&gt; 20 辆」格仅占该城 1.1% 场景，n 极小，不引用。　红线：map_location 只能说 geography / domain bundle，不得解释为道路风格或天气。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10367" y="62910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402336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铁核画像（二）：九个标签里只有两个真的偏离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66928" y="1042416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endpoint_dy 是偏离最大的一个：TVD .3426，是随机零分布 p95 的 4.29 倍。</a:t>
            </a:r>
            <a:endParaRPr lang="en-US" sz="14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66928" y="1783080"/>
          <a:ext cx="740664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8430768" y="1965960"/>
            <a:ext cx="32004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冲出零分布带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endpoint_dy　4.29×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map_location　3.27×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actor_density　1.64×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留在带内（= 噪声）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route_command 1.06×　contrast 1.04×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blur_like 1.00×　illumination 0.79×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endpoint_dx 0.73×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10367" y="62910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402336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单调性：失败频次越高，偏离越大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66928" y="1042416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三个显著标签全部单调递增；route_command 不单调 —— 佐证它本就是噪声。</a:t>
            </a:r>
            <a:endParaRPr lang="en-US" sz="14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66928" y="1828800"/>
          <a:ext cx="722376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47888" y="2377440"/>
          <a:ext cx="3374136" cy="914400"/>
        </p:xfrm>
        <a:graphic>
          <a:graphicData uri="http://schemas.openxmlformats.org/drawingml/2006/table">
            <a:tbl>
              <a:tblPr/>
              <a:tblGrid>
                <a:gridCol w="14538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TVD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never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once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endpoint_dy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.0644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.2407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.3426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map_location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.0302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.1181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.2525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actor_density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.0266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.0850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.1271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route_command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.0320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.1322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.0629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66928" y="5623560"/>
            <a:ext cx="1105783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陷阱：never_failed 的 route TVD .0320 / null .0044 = 7.3 倍看似极显著，但绝对 TVD 只有 0.03 —— n = 9,683 让零分布极小。比值大 ≠ 重要，两个数必须一起看。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10367" y="62910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402336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决定性发现：导航指令看不见几何需求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66928" y="1042416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在指令说「直行」的场景里，被稳定做坏的，是专家实际上要向左横移 2 米以上的那些。</a:t>
            </a:r>
            <a:endParaRPr lang="en-US" sz="14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66928" y="1783080"/>
          <a:ext cx="722376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8247888" y="1920240"/>
            <a:ext cx="3374136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GO_STRAIGHT 占 hard_core 的 72.7%（n = 176）</a:t>
            </a:r>
            <a:endParaRPr lang="en-US" sz="115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实际向左横移：28.5% → 72.7%</a:t>
            </a:r>
            <a:endParaRPr lang="en-US" sz="115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实际基本直行：52.9% → 19.9%</a:t>
            </a:r>
            <a:endParaRPr lang="en-US" sz="115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dy &gt; 2 一档：2.94 倍</a:t>
            </a:r>
            <a:endParaRPr lang="en-US" sz="115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route 级别几乎没变</a:t>
            </a:r>
            <a:endParaRPr lang="en-US" sz="115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hard_core {直 .727　左 .202　右 .070}</a:t>
            </a:r>
            <a:endParaRPr lang="en-US" sz="115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全体　　 {直 .664　左 .206　右 .130}</a:t>
            </a:r>
            <a:endParaRPr lang="en-US" sz="115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TURN_LEFT 占比完全没变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66928" y="5532120"/>
            <a:ext cx="1105783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+y = 左 已由数据确认（TURN_LEFT 88.6% 落 &gt;2，TURN_RIGHT 83.2% 落 &lt;−2）。TURN_RIGHT 行 n 仅 17，数字乱跳是噪声，不要引用。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10367" y="62910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402336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合起来的读法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66928" y="1042416"/>
            <a:ext cx="1105783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planner 稳定失败在「指令说直行、实际需要大幅横移」的空旷场景，失败方式是横着开出路面。</a:t>
            </a: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不是交互问题，不是看不清的问题。缺的是几何 / 行为层面的监督。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66928" y="2331720"/>
            <a:ext cx="11057839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197 / 242 是驶出可行驶区，仅 44 是碰撞</a:t>
            </a:r>
            <a:endParaRPr lang="en-US" sz="13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周围车更少（0–5 档 1.36×，&gt;20 档 0.42×），去混杂后同城内仍单调</a:t>
            </a:r>
            <a:endParaRPr lang="en-US" sz="13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需要的横向位移显著更大，且集中在被标为直行的场景</a:t>
            </a:r>
            <a:endParaRPr lang="en-US" sz="13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亮度 / 对比度 / 清晰度与全体无差异</a:t>
            </a:r>
            <a:endParaRPr lang="en-US" sz="13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转向指令无区分度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429768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必须同页说的三句诚实话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66928" y="4617720"/>
            <a:ext cx="1105783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画像标签是在看到分数之后生成的 → descriptive / exploratory，非 confirmatory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图像阈值取自 navtest 自身分位数，是对 spec §5「只从 train split 计算」的有意偏离（train 侧真图仅 21% 可用）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左右不对称照实报告，不做因果归因；新加坡左侧通行混在池中（占 15.8%），对应 DriveWeave §6.1 已列的 traffic-rule conflict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10367" y="62910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402336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附带产出：噪声地板与指标选择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66928" y="1042416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个 seed 的检出下限是 4.56 分，而 RAP 自己报告的 recovery 效应是 4.4 分 —— 用现在这个配置，连已发表的效应都测不出来。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66928" y="19659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最小可检出效应（MDE）</a:t>
            </a:r>
            <a:endParaRPr lang="en-US" sz="135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331720"/>
          <a:ext cx="5120640" cy="91440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目标效应量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所需 seed 数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4.4 分（RAP recovery）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3.0 分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2.0 分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16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66928" y="374904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seed sd = 2.82 分 → n=3 的检出下限 4.56 分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提案里 ε 定义为「多随机种子的实验波动」，是个待填的空 —— 现在有数了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19088" y="19659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指标选择</a:t>
            </a:r>
            <a:endParaRPr lang="en-US" sz="1350" dirty="0"/>
          </a:p>
        </p:txBody>
      </p:sp>
      <p:graphicFrame>
        <p:nvGraphicFramePr>
          <p:cNvPr id="4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19088" y="2331720"/>
          <a:ext cx="5212080" cy="9144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RAP Table 6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无 recovery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有 recovery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v1 PDMS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92.5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92.5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v2 EPDMS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32.5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36.9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6419088" y="3566160"/>
            <a:ext cx="5212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v1 对 recovery 完全不敏感，v2 才动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加上我训出的「安全 93–98、EP 只有 61」这个模型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EPDMS 必须是 official final metric，且 Stage 2 gain 必须同时查 EP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566928" y="5577840"/>
            <a:ext cx="1105783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必须主动说：MDE 是在 v1 PDMS 上测的，EPDMS 的方差方向未知。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10367" y="62910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402336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三个问题，各答了一半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66928" y="1042416"/>
            <a:ext cx="1105783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我用实证消除法划掉了「优化侧」这个分支，并且定位到了失败的自由度——横向。</a:t>
            </a: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而横向恰好是 recovery 扰动 δ = (Δx, Δy, Δθ, Δv) 直接作用的那个自由度。</a:t>
            </a:r>
            <a:endParaRPr lang="en-US" sz="145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514600"/>
          <a:ext cx="11057839" cy="18288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083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我问的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本轮答到哪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交给 DriveWeave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该投在哪？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优化侧已被实证消除（ICC 0.601 / 0.761）；缺口定位在横向几何监督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S0 / S1 / S2 / S3 分开数据侧三个分支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多大才算数？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ε 有数了：≥ 3.2 分波动，需 ≥ 4 seed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填上成功判据里那个待填的空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用哪个指标？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v1 对 recovery 不敏感 + 「高 safety / 低 EP」活标本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EPDMS 为 final metric；Stage 2 gain 必须同时查 EP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66928" y="4617720"/>
            <a:ext cx="1105783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划清边界：navtest 是 nominal 起点，所以横移失败不等于恢复失败。我的分析排除的是优化侧，不是替数据侧选定了答案。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数据侧还剩三个分支：更多正常驾驶数据？目标数据集自己的 recovery 数据？还是跨数据集的 recovery 数据？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另外：我这轮测的那个 loss 项，就是 DriveWeave Phase 2 的 L_struct。提案里的 A6 消融，就是把这个实验放在正确预算下重做一遍。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10367" y="62910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22860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2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566928" y="34290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DriveWeave Proposal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404164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Source-Sensor-Free Cross-Dataset Recovery Scaling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10367" y="62910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402336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大问题：recovery gap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66928" y="1042416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Camera-based E2E planner 训练在 nominal manifold 上；部署后，小的规划误差把车推到日志里罕见的 off-nominal 状态。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66928" y="192024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P_nominal ≠ P_recovery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66928" y="2468880"/>
            <a:ext cx="5303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人类驾驶日志集中在 P_nominal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NAVSIM-v2 Stage 2 专门测 P_recovery：车辆已经产生横向偏移、heading mismatch 或异常速度之后，planner 能否安全且高效地回到合理驾驶状态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所以泛化的「更多 nominal samples」并不必然改善 Stage 2 —— 训练数据必须显式扩大 recovery-state support（O0）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19088" y="192024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1 已经交出一个活标本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19088" y="2468880"/>
            <a:ext cx="5212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安全类 sub-score 91–98，EP 只有 61.37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197 / 242 个稳定失败是横着开出可行驶区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而 NAVSIM-v2 的 Stage 2 扰动 δ = (Δx, Δy, Δθ, Δv) 施加的正是横向这个自由度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planner 最弱的自由度，恰好是 recovery 监督直接作用的那个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但要划清：navtest 是 nominal 起点，这不等于「恢复失败」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10367" y="62910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402336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先行研究：四条已经成熟的路线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66928" y="1042416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structured-to-vision transfer 不是我的 novelty，multi-dataset planning 不是，recovery augmentation 也不是。</a:t>
            </a:r>
            <a:endParaRPr lang="en-US" sz="1450" dirty="0"/>
          </a:p>
        </p:txBody>
      </p:sp>
      <p:pic>
        <p:nvPicPr>
          <p:cNvPr id="5" name="Image 0" descr="assets/f1_abcd_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648" y="1828800"/>
            <a:ext cx="10058400" cy="36965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5623560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A：同源 recovery 增强（RAP / SimScale / Gigapixel）　B：structured policy → vision（TerraTransfer）　C：多数据集 RGB 联合训练（HEAT / PixelPilot）　D：多数据集轨迹先验迁移（UniPlanner）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RAP 同时是本提案的实现基座与主要受控 baseline。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10367" y="62910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402336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先行研究未解决的问题（一）：四个 Bottleneck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66928" y="1042416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四条路线里，没有任何一条同时拿到「Recovery-state coverage: YES」和「Recovery across datasets: YES」。</a:t>
            </a:r>
            <a:endParaRPr lang="en-US" sz="1450" dirty="0"/>
          </a:p>
        </p:txBody>
      </p:sp>
      <p:pic>
        <p:nvPicPr>
          <p:cNvPr id="5" name="Image 0" descr="assets/f1_abcd_bt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328" y="1965960"/>
            <a:ext cx="10607040" cy="31344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5440680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的 recovery 多样性被单一数据源封顶；B 的 bounding-box 结构状态漏掉细粒度视觉线索；C 消费全部 source RGB 且异构联合训练可能负迁移；D 的 source 只贡献轨迹先验，本身不是可部署的相机 planner。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10367" y="62910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402336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先行研究未解决的问题（二）：四个 Observation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66928" y="1042416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逻辑链不是并列罗列，而是 O1 →（O2, O3）→ O4。</a:t>
            </a:r>
            <a:endParaRPr lang="en-US" sz="145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148840"/>
          <a:ext cx="11057839" cy="91440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284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Obs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性质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缺口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证据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O1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Opportunity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planning-rich corpora 值得 scale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1,200h 标注 vs 120h 图像。定性为 opportunity，不是 gap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O2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Engineering barrier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用 source RGB 就要 sensor reconciliation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HEAT 给 6-camera nuScenes 补空白视图；RAP 需 camera reorder + resize + 标定变换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O3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Learning barrier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接口统一了，异构联合学习仍可能冲突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HEAT 表：LTF 83.8 → 55.6，LAW 84.6 → 72.3，HEAT(full) 83.2 → 85.2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O4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Solution constraint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source 去 image ≠ deployment 去 image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structured teacher 缺 brake lights / hand signals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66928" y="4572000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O0 定义任务本身：nominal logs 缺 recovery 覆盖 → structured counterfactual recovery → 多个数据集扩大 recovery 多样性。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66928" y="5120640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红线：不能把 10:1 的 log-hour 比例写成「丢弃 90% 的独立驾驶知识」——data hours 不等于 unique planning knowledge。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O3 只能推出「Direct multi-domain training does not automatically convert more datasets into better target planning」，不能推出「删掉 images 后 negative transfer 就自动消失」。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10367" y="62910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402336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最终目的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66928" y="1042416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目标不是孤立最大化 Stage 2，是最大化官方 Final EPDMS，且 nominal 不许退。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66928" y="201168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max  EPDMS_final(θ)　　s.t.　S₁(θ) ≥ S₁(θ₀) − ε　,　S₂(θ) ≥ S₂(θ₀) + δ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66928" y="2606040"/>
            <a:ext cx="1105783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θ₀ = 完全相同 codebase、target visual budget 与训练预算下的 target-only baseline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ε 由多随机种子的实验波动确定 —— 这正是 Part 1 填上的空：≥ 3.2 分，需 ≥ 4 seed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1 / Stage 2 是诊断指标，Final EPDMS 才是官方最终指标</a:t>
            </a:r>
            <a:endParaRPr lang="en-US" sz="125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977640"/>
          <a:ext cx="11057839" cy="173736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27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成功分层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判据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解读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Failure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Stage 2 ↑，Stage 1 明显 ↓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nominal-recovery trade-off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Weak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Stage 2 ↑，Stage 1 小幅 ↓ 且 Final EPDMS ↑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刷榜可能有效，科学结论不干净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Strong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Stage 1 在波动范围内不退，Stage 2 显著 ↑，Final ↑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recovery without nominal regression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Ideal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Stage 1 ↑，Stage 2 显著 ↑，Final ↑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planning prior 同时改善两端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66928" y="5806440"/>
            <a:ext cx="1105783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胜利条件是 Stage 1 持平 + Stage 2 显著涨，不是全面超越。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10367" y="62910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402336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Task 设定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66928" y="1042416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Task、Method、Deployment 三者必须分开说，混在一起就会被误解成 sensor-agnostic。</a:t>
            </a:r>
            <a:endParaRPr lang="en-US" sz="1450" dirty="0"/>
          </a:p>
        </p:txBody>
      </p:sp>
      <p:pic>
        <p:nvPicPr>
          <p:cNvPr id="5" name="Image 0" descr="assets/f1_ou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783080"/>
            <a:ext cx="3840480" cy="398803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13248" y="1874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784848" y="1874520"/>
            <a:ext cx="48371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Recovery robustness without nominal regression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413248" y="2743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Method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784848" y="2743200"/>
            <a:ext cx="48371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Source-sensor-free cross-dataset structured recovery scaling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413248" y="3611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Deployment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784848" y="3611880"/>
            <a:ext cx="48371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target camera + 标准 ego status / navigation ONLY；不用 structured annotations，不用任何 source data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413248" y="4526280"/>
            <a:ext cx="6208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「不使用 source images / calibration」的两层含义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413248" y="4846320"/>
            <a:ext cx="62087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Capability：planning-only / motion-heavy 语料也能服务 camera E2E planning</a:t>
            </a:r>
            <a:endParaRPr lang="en-US" sz="115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Controlled protocol：固定 target visual budget，排除额外 source RGB 预训练对结果的解释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566928" y="5897880"/>
            <a:ext cx="1105783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准确表述：不是「structured annotations 与传感器无关」，而是 DriveWeave training does not consume raw source sensor observations or source camera geometry.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10367" y="62910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402336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范式定位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66928" y="1042416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DriveWeave 不是 A+B+C+D 的组合，是把 knowledge scaling 与 sensor coupling 这两件被前人绑在一起的事拆开。</a:t>
            </a:r>
            <a:endParaRPr lang="en-US" sz="1450" dirty="0"/>
          </a:p>
        </p:txBody>
      </p:sp>
      <p:pic>
        <p:nvPicPr>
          <p:cNvPr id="5" name="Image 0" descr="assets/f1_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965960"/>
            <a:ext cx="11057839" cy="19416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4206240"/>
            <a:ext cx="1105783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左三格 / 第四格的 source 侧要么带 sensor，要么完全没有视觉分支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的 source 侧只有 metadata，target 侧只有真实图像，两条路在同一个 Shared Planner 汇合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† 表中带标记的两列是本提案待验证的假设，不是已报告的结果。</a:t>
            </a:r>
            <a:endParaRPr lang="en-US" sz="12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10367" y="62910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402336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Motivation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66928" y="1042416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两条独立证据把设计空间夹到只剩一个出口：source 端必须无相机，target 端必须有相机。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66928" y="196596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上夹　扩展需求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66928" y="2331720"/>
            <a:ext cx="5212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假设 recovery 监督确实有用 —— 那是 Week 2 的 S1 − S0 要先过的门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接下来的问题就变成：recovery 的场景多样性从哪来？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目标数据集自己的日志能造出的 recovery 状态，受限于它自己跑过的那些路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要扩，只能上更多真实数据集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19088" y="196596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下夹　带上 source RGB 的代价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19088" y="2331720"/>
            <a:ext cx="5212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HEAT 要给 nuScenes 补空白视图凑齐输入接口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RAP 混训要统一相机顺序、resize 到 576×1024、旋转缩放标定矩阵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这些是妥协，不是方法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而且 naive 混合会掉点：HEAT 表里 LTF 从 83.8 掉到 55.6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4709160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唯一干净的出口：让 source 端的扩展完全发生在 canonical structured space 里。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" y="512064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分工澄清：去相机是对 source 的要求，不是对整个 pipeline 的洁癖。部署目标的相机几何本来就是已知的，所以 Phase 2 照样用 RAP 的 perspective raster。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负控制：本轮跑的是纯 regularization、零新信息的测量 —— 它预先削减了 R7 的捷径解释。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10367" y="62910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402336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提案方法详情：两个训练阶段 + 相机-only 部署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66928" y="1042416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1 学会开（不看图），Phase 2 学会看（只看 target 图），部署时只剩相机。</a:t>
            </a:r>
            <a:endParaRPr lang="en-US" sz="1450" dirty="0"/>
          </a:p>
        </p:txBody>
      </p:sp>
      <p:pic>
        <p:nvPicPr>
          <p:cNvPr id="5" name="Image 0" descr="assets/f2_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3808" y="1691640"/>
            <a:ext cx="9784080" cy="427625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6016752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图例：蓝框 = structured branch，橙框 = visual branch，绿框 = shared / deployed；火焰 = 可训练，雪花 = 冻结；灰虚线 = train-only（部署时丢弃）；红虚线 = 监督 / 梯度流；sg[·] = stop-gradient；×2 = 同一份权重前向两次。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10367" y="62910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402336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1：Multi-Dataset Structured Recovery Pretraining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66928" y="1042416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整个 Phase 1 没有任何图像输入，也不训练任何图像编码器。</a:t>
            </a:r>
            <a:endParaRPr lang="en-US" sz="1450" dirty="0"/>
          </a:p>
        </p:txBody>
      </p:sp>
      <p:pic>
        <p:nvPicPr>
          <p:cNvPr id="5" name="Image 0" descr="assets/f2_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691640"/>
            <a:ext cx="3337560" cy="41357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270248" y="1737360"/>
            <a:ext cx="7351776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Canonicalizer C_i</a:t>
            </a:r>
            <a:endParaRPr lang="en-US" sz="11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deterministic · no parameters · train-only</a:t>
            </a:r>
            <a:endParaRPr lang="en-US" sz="11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只负责 common interface，不负责消除 behavior / policy / city 差异</a:t>
            </a:r>
            <a:endParaRPr lang="en-US" sz="11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Canonical nominal state S_nominal</a:t>
            </a:r>
            <a:endParaRPr lang="en-US" sz="11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ego-centric vectorized BEV，ego 在原点朝 +x，范围 [−32, 32] × [−32, 96] m</a:t>
            </a:r>
            <a:endParaRPr lang="en-US" sz="11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 · agents · route/navigation · ego state (v, a, ω) · traffic light · per-field availability mask</a:t>
            </a:r>
            <a:endParaRPr lang="en-US" sz="11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UNKNOWN 与 NONE 严格区分；ego state 内嵌在 S_nominal 中，Phase 1 没有独立 ego encoder</a:t>
            </a:r>
            <a:endParaRPr lang="en-US" sz="11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structured recovery construction（train-only）</a:t>
            </a:r>
            <a:endParaRPr lang="en-US" sz="11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Recovery intervention T_δ，δ = (dx, dy, dθ, dv) → Recovery target generator → validity filter</a:t>
            </a:r>
            <a:endParaRPr lang="en-US" sz="11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标签用 trajectory retrieval + structured scorer：kinematics · drivable / lane direction · collision / TTC · route progress · comfort</a:t>
            </a:r>
            <a:endParaRPr lang="en-US" sz="11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L_P1 = L_nom + λ_r·L_rec + λ_a·L_anchor</a:t>
            </a:r>
            <a:endParaRPr lang="en-US" sz="11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L_anchor 是可消融的 nominal-preservation 项，不是假设一定有益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66928" y="594360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第二次点名横向：Part 1 定位的那个弱自由度，就是这里的 dy。scorer 的两条准则 drivable / lane direction 与 route progress，正对应 197 个 DAC 失败与 EP 61。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10367" y="62910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402336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2：Target-Only Visual Recovery Grounding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66928" y="1042416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结构化支整体冻结并只在训练期存在；这一阶段真正训练的只有 visual adapter。</a:t>
            </a:r>
            <a:endParaRPr lang="en-US" sz="1450" dirty="0"/>
          </a:p>
        </p:txBody>
      </p:sp>
      <p:pic>
        <p:nvPicPr>
          <p:cNvPr id="5" name="Image 0" descr="assets/f2_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691640"/>
            <a:ext cx="3840480" cy="41384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73168" y="1737360"/>
            <a:ext cx="6848856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两条支路，同一个 planner 前向两次（×2）</a:t>
            </a:r>
            <a:endParaRPr lang="en-US" sz="105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Nominal：target metadata → C_target → E_meta ❄ → G_meta ❄ → F_meta_nom；target real RGB → B_vis ❄（frozen RAP backbone）→ G_img 🔥 → F_img_nom</a:t>
            </a:r>
            <a:endParaRPr lang="en-US" sz="105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Recovery：target metadata → C_target → T_delta → F_meta_rec；RAP-style target-only perspective rasterization → F_img_rec</a:t>
            </a:r>
            <a:endParaRPr lang="en-US" sz="105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L_P2 = L_GT_nom + λ_d·L_dec + λ_s·L_struct + λ_v·L_visual_rec</a:t>
            </a:r>
            <a:endParaRPr lang="en-US" sz="105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L_GT_nom：target real-image trajectory supervision，为 image-private cues 留学习通路</a:t>
            </a:r>
            <a:endParaRPr lang="en-US" sz="105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L_dec：structured / visual decision consistency（注意图上两处 sg[·]，结构支是 teacher，梯度不回流）</a:t>
            </a:r>
            <a:endParaRPr lang="en-US" sz="105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L_struct：batch-relational low-rank structural alignment —— 本轮实验测的就是这一项，A6 就是它的消融</a:t>
            </a:r>
            <a:endParaRPr lang="en-US" sz="105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L_visual_rec：target recovery observation 上的 planning / alignment 监督</a:t>
            </a:r>
            <a:endParaRPr lang="en-US" sz="105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Planner 三个变体</a:t>
            </a:r>
            <a:endParaRPr lang="en-US" sz="105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Controlled 冻结（测 transfer retention）/ Performance small-lr unfreeze / Residual head τ = τ_base + g(O,H)·Δτ_rec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66928" y="594360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split integrity（主动说）：所有 recovery observation 只由 navtrain 生成；navhard_two_stage / warmup_two_stage 与 private test follow-up observations 从不用于训练。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10367" y="62910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402336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Deployment：Camera-Only Inference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66928" y="1042416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部署时只剩相机观测 + 标准 ego status / navigation。所有 source data、canonicalizer、structured encoder、recovery generator 与全部标注都被丢弃。</a:t>
            </a:r>
            <a:endParaRPr lang="en-US" sz="1450" dirty="0"/>
          </a:p>
        </p:txBody>
      </p:sp>
      <p:pic>
        <p:nvPicPr>
          <p:cNvPr id="5" name="Image 0" descr="assets/f2_p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783080"/>
            <a:ext cx="2606040" cy="406558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584448" y="1828800"/>
            <a:ext cx="8037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跨阶段共享权重 —— 这就是知识从 structured 流到 camera 的物理通道</a:t>
            </a:r>
            <a:endParaRPr lang="en-US" sz="13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84448" y="2212848"/>
          <a:ext cx="8037576" cy="914400"/>
        </p:xfrm>
        <a:graphic>
          <a:graphicData uri="http://schemas.openxmlformats.org/drawingml/2006/table">
            <a:tbl>
              <a:tblPr/>
              <a:tblGrid>
                <a:gridCol w="2916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模块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Phase 1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Phase 2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Deploy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Structured Encoder E_meta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训练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冻结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丢弃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Structured Adapter G_meta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训练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冻结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丢弃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Visual Encoder B_vis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冻结（RAP backbone）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参与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Visual Adapter G_img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训练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参与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Shared Planner P_shared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训练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冻结 / small-lr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参与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optional residual head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可选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可选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3584448" y="4572000"/>
            <a:ext cx="8037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P_shared 贯穿三个阶段：Phase 1 在结构化空间里学到的 recovery 知识，通过它被 Phase 2 的视觉支继承，最后进入相机-only 的部署模型。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10367" y="62910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402336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受控实验矩阵与识别性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66928" y="1042416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矩阵存在的理由不是穷举，是把「多数据集」和「recovery-specific」这两个变量分开，否则任何 gain 都无法归因。</a:t>
            </a:r>
            <a:endParaRPr lang="en-US" sz="145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148840"/>
          <a:ext cx="11057839" cy="9144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367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ID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输入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多数据集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Recovery 数据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问题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S0 / S1 / S2 / S3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Structured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/ No / Yes / Yes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/ Yes / No / Yes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privileged 空间里的诊断四格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C0 / C1 / C2 / C3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Camera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/ No / Yes / Yes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/ Yes / No / Yes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可部署四格，C3 = DriveWeave full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66928" y="33832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四个关键比较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66928" y="3703320"/>
            <a:ext cx="5212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S1 − S0：target-only structured recovery 增益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S3 − S1：external 数据集的结构化增量价值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C3 − C1：最终可部署的增量价值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C3 − S3：迁移保持率，不是 external 的因果效应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19088" y="33832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五个识别性负控制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419088" y="3703320"/>
            <a:ext cx="5212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 scene-trajectory pairing shuffle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 recovery label shuffle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matched-volume duplicate-target control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ego-status masked evaluation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leave-overlap-city-out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66928" y="5623560"/>
            <a:ext cx="1105783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R7 identifiability failure（主动说）：若 source shuffle 仍产生同等 gain，则不能解释为 external recovery knowledge，必须改口报 regularization effect。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10367" y="62910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402336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下一步：Week 1 今天就能开始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66928" y="1042416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canonical 无损性门禁不需要一张图像，所以图像侧的数据物流阻塞不阻塞方法验证。</a:t>
            </a:r>
            <a:endParaRPr lang="en-US" sz="145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103120"/>
          <a:ext cx="11057839" cy="914400"/>
        </p:xfrm>
        <a:graphic>
          <a:graphicData uri="http://schemas.openxmlformats.org/drawingml/2006/table">
            <a:tbl>
              <a:tblPr/>
              <a:tblGrid>
                <a:gridCol w="5852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881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任务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需要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现在能做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canonicalize_navsim.py + canonical planner 无损性门禁（PDMS &gt; 90）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零张图像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可以，今天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补 sensor blobs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纯 IO / 带宽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可以，后台挂着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RAP 93.8 复现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完整 sensor blobs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阻塞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Stage 1 / 2 / Final EPDMS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v2.2 evaluator + navhard_two_stage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阻塞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66928" y="4206240"/>
            <a:ext cx="1105783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 2 的 S1 − S0 是整个提案的第一道生死门 —— 如果 target-only recovery 本身没有增益，后面三格矩阵都不用跑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红线：不能说「Week 1 的 RAP 复现已经在手」。手上是评测链路 + 受控装置 + CV 锚点复现；93.8 没做到（当前 75.8，残缺子集）。</a:t>
            </a:r>
            <a:endParaRPr lang="en-US" sz="12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10367" y="62910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402336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附录：表述红线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66928" y="8412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备查，不讲</a:t>
            </a:r>
            <a:endParaRPr lang="en-US" sz="11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17320"/>
          <a:ext cx="11057839" cy="3456432"/>
        </p:xfrm>
        <a:graphic>
          <a:graphicData uri="http://schemas.openxmlformats.org/drawingml/2006/table">
            <a:tbl>
              <a:tblPr/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58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不能说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改成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实验表明 alignment 是纯正则化 / 没有增益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效应不可与 seed 噪声区分；协议禁止方向性结论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FullAlign 方差更小说明它在正则化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 = 3、未预注册 → 只作为下一轮的预注册假设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Week 1 的 RAP 复现已经在手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评测链路 + 受控装置 + CV 锚点；93.8 没做到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21% 证明数据集图像稀缺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本地可用性（data_bug），只作排期事实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197 个 DAC 失败 = recovery 失败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navtest 是 nominal 起点，只是同一类几何约束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CV 能过而 planner 全败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19 &lt; 独立预期 80，叙事不成立；改用「铁核对 CV 也难 4.2 倍」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铁核偏向左转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TURN_LEFT 占比与失败率均为平均水平；左倾来自被标成直行、却要向左大幅横移的场景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波士顿街道窄所以难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map_location 只能说 geography / domain bundle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图像三项无差异 = 视觉不是问题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只说明这三个全局统计量解释不了失败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新加坡左侧通行导致左倾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sg 占比 .158 → .140（0.89×），该链不成立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首个多数据集 planning / structured-to-vision transfer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已被 UniPlanner / TerraTransfer 占用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sensor-agnostic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用 source-sensor-free；canonicalization 只负责 common interface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DINO backbone lr = 2e-5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backbone 是冻结的（img_backbone 全部 requires_grad = False）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10367" y="62910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402336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附录：必须主动说的五句 · 高频问答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66928" y="8412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备查，不讲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必须主动说的五句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1691640"/>
            <a:ext cx="5212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under-trained（75.8 vs 93.8），铁核有一部分会在全量训练后消失</a:t>
            </a:r>
            <a:endParaRPr lang="en-US" sz="11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navtest 是 nominal 起点，横移失败 ≠ recovery 失败</a:t>
            </a:r>
            <a:endParaRPr lang="en-US" sz="11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CV 的一致性有机械成分（直行策略必然在弯道出界）</a:t>
            </a:r>
            <a:endParaRPr lang="en-US" sz="11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MDE 在 v1 PDMS 上测，EPDMS 方差方向未知</a:t>
            </a:r>
            <a:endParaRPr lang="en-US" sz="11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画像是 descriptive / exploratory；图像阈值取自 navtest 自身，是对 spec §5 的有意偏离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41148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三个不能碰的动作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4434840"/>
            <a:ext cx="5212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把 FullAlign 赢 / NoAlign 赢的场景集合拿去配元数据画像（触犯 forbidden_use 第 1 条）</a:t>
            </a:r>
            <a:endParaRPr lang="en-US" sz="11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引用 TURN_RIGHT 那一行（n 仅 17）</a:t>
            </a:r>
            <a:endParaRPr lang="en-US" sz="11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引用 Pittsburgh「&gt; 20 辆」那一格（占该城 1.1%）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19088" y="13716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高频问答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19088" y="1691640"/>
            <a:ext cx="521208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9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你的 null 否定了 DriveWeave 吗？</a:t>
            </a:r>
            <a:endParaRPr lang="en-US" sz="95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那是 no-result 不是 null（gate 两条全 FAILED）；即便当真，它测的是空载的桥，理论本就预测没增益；正因如此放进 A6 而非主线</a:t>
            </a:r>
            <a:endParaRPr lang="en-US" sz="95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9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你有没有看过 alignment 在哪类场景上起作用？</a:t>
            </a:r>
            <a:endParaRPr lang="en-US" sz="95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看了，而且这正是不能回答的那个问题。seed 0 的 DAC 是 rescue 254 / regression 107，seed 2 是 238 / 617 —— 同一份数据、同一初始化，方向反了</a:t>
            </a:r>
            <a:endParaRPr lang="en-US" sz="95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9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242 个场景会不会只是某几段路？</a:t>
            </a:r>
            <a:endParaRPr lang="en-US" sz="95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64 个 log，top-3 仅 17.4%，未触发混杂标记；另两个子集 top-3 达 45%，它们的画像已作废</a:t>
            </a:r>
            <a:endParaRPr lang="en-US" sz="95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9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为什么不直接把 nuScenes 标注渲成 perspective raster？</a:t>
            </a:r>
            <a:endParaRPr lang="en-US" sz="95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raster 无法表达「不可观测」——「没标注」和「没红灯」渲成同一张图，planner 会把缺失当 negative evidence 学。这是 A8 的 UNKNOWN ≠ NONE</a:t>
            </a:r>
            <a:endParaRPr lang="en-US" sz="95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9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HEAT 已证明多数据集会掉点，你凭什么不掉？</a:t>
            </a:r>
            <a:endParaRPr lang="en-US" sz="95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不假设不掉。O3 写在提案里，成功判据分四级，胜利条件是持平不是超越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4728</Words>
  <Application>Microsoft Macintosh PowerPoint</Application>
  <PresentationFormat>ワイド画面</PresentationFormat>
  <Paragraphs>763</Paragraphs>
  <Slides>39</Slides>
  <Notes>39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39</vt:i4>
      </vt:variant>
    </vt:vector>
  </HeadingPairs>
  <TitlesOfParts>
    <vt:vector size="42" baseType="lpstr">
      <vt:lpstr>Arial</vt:lpstr>
      <vt:lpstr>Segoe UI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RAP Alignment 受控实验与 DriveWeave 提案</dc:title>
  <dc:subject>PptxGenJS Presentation</dc:subject>
  <dc:creator>RAP / DriveWeave</dc:creator>
  <cp:lastModifiedBy>DENG QIAOYI / QIAOYI DENG</cp:lastModifiedBy>
  <cp:revision>1</cp:revision>
  <dcterms:created xsi:type="dcterms:W3CDTF">2026-08-25T05:39:45Z</dcterms:created>
  <dcterms:modified xsi:type="dcterms:W3CDTF">2026-08-25T06:20:49Z</dcterms:modified>
</cp:coreProperties>
</file>